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1051560"/>
            <a:ext cx="9628632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14173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4A19"/>
                </a:solidFill>
                <a:latin typeface="Segoe UI"/>
              </a:rPr>
              <a:t>Banking Statement Converter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212121"/>
                </a:solidFill>
                <a:latin typeface="Segoe UI"/>
              </a:rPr>
              <a:t>MT940  ·  MT942  ·  camt.052  ·  camt.053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57575"/>
                </a:solidFill>
                <a:latin typeface="Segoe UI"/>
              </a:rPr>
              <a:t>Spring Boot  ·  Spring Batch  ·  Strategy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3749039"/>
            <a:ext cx="3867912" cy="457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2121"/>
                </a:solidFill>
                <a:latin typeface="Segoe UI"/>
              </a:rPr>
              <a:t>Wallace Espindola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57575"/>
                </a:solidFill>
                <a:latin typeface="Segoe UI"/>
              </a:rPr>
              <a:t>github.com/wallaceespindola  ·  linkedin.com/in/wallaceespindola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1.   The Problem — SWIFT MT &amp; ISO 20022 migration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2.   Supported Formats — Four banking file types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3.   Architecture — System design overview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4.   Tech Stack — Java 21, Spring Boot, Prowide, Velocity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5.   Strategy Pattern — Eight conversion strategies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6.   Spring Batch Pipeline — How conversion jobs run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7.   Conversion Engines — Prowide vs Velocity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8.   REST API — Endpoints and usage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9.   Frontend — Vanilla HTML/JS SPA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10.  Quick Start — Running in seconds</a:t>
            </a:r>
          </a:p>
          <a:p>
            <a:pPr algn="l"/>
            <a:r>
              <a:rPr sz="1900" b="0" i="0">
                <a:solidFill>
                  <a:srgbClr val="212121"/>
                </a:solidFill>
                <a:latin typeface="Segoe UI"/>
              </a:rPr>
              <a:t>11.  Testing — 45 tests, zero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BC"/>
                </a:solidFill>
                <a:latin typeface="Segoe UI"/>
              </a:rPr>
              <a:t>Two parallel worlds in European banking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49240" cy="44348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Segoe UI"/>
              </a:rPr>
              <a:t>SWIFT MT  (Legacy)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074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Text-based tag format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Used since the 1970s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:20:  :25:  :61:  :86: fields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MT940 = end-of-day statement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MT942 = intraday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51560"/>
            <a:ext cx="5806440" cy="4434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143000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565C0"/>
                </a:solidFill>
                <a:latin typeface="Segoe UI"/>
              </a:rPr>
              <a:t>ISO 20022  (Modern)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737360"/>
            <a:ext cx="5532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Structured XML with namespaces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Mandated by ECB / EPC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Validated against XSD schemas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camt.053 = end-of-day statement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camt.052 = intraday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4184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5100"/>
                </a:solidFill>
                <a:latin typeface="Segoe UI"/>
              </a:rPr>
              <a:t>SWIFT completed MX migration November 2025 — banks must support both formats during transition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Supported Banking Formats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01168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1338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Standard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097280"/>
            <a:ext cx="150876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1133856"/>
            <a:ext cx="14173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097280"/>
            <a:ext cx="594360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2503" y="1133856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097280"/>
            <a:ext cx="178308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1824" y="1133856"/>
            <a:ext cx="1691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Equivalent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81328"/>
            <a:ext cx="201168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1545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SWIFT MT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481328"/>
            <a:ext cx="150876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78024" y="1545336"/>
            <a:ext cx="1417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MT940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1481328"/>
            <a:ext cx="594360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32503" y="1545336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End-of-day customer statement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481328"/>
            <a:ext cx="178308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1824" y="1545336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002536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2066543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SWIFT MT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2002536"/>
            <a:ext cx="1508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8024" y="2066543"/>
            <a:ext cx="1417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MT942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2002536"/>
            <a:ext cx="5943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32503" y="2066543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Intraday transaction 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2002536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1824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523744"/>
            <a:ext cx="201168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58775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ISO 20022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2523744"/>
            <a:ext cx="150876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78024" y="2587751"/>
            <a:ext cx="1417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camt.053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2523744"/>
            <a:ext cx="594360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2503" y="2587751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Bank-to-customer statement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523744"/>
            <a:ext cx="178308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21824" y="2587751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= MT940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044952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" y="3108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ISO 20022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3044952"/>
            <a:ext cx="1508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78024" y="3108960"/>
            <a:ext cx="1417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camt.052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3044952"/>
            <a:ext cx="5943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3" y="310896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Bank-to-customer account report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3044952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21824" y="310896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= MT942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206240"/>
            <a:ext cx="11430000" cy="73152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27024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F360C"/>
                </a:solidFill>
                <a:latin typeface="Segoe UI"/>
              </a:rPr>
              <a:t>This platform generates all four formats from a single internal domain model</a:t>
            </a:r>
          </a:p>
          <a:p>
            <a:pPr algn="ctr"/>
            <a:r>
              <a:rPr sz="1600" b="0" i="0">
                <a:solidFill>
                  <a:srgbClr val="BF360C"/>
                </a:solidFill>
                <a:latin typeface="Segoe UI"/>
              </a:rPr>
              <a:t>using two conversion engines: Prowide and Apache Velocity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1228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4A19"/>
                </a:solidFill>
                <a:latin typeface="Segoe UI"/>
              </a:rPr>
              <a:t>HTML/JS SPA  —  Dashboard · Generate · Conversion Runner · History · Charts · Diagrams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143000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892807"/>
            <a:ext cx="11228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Segoe UI"/>
              </a:rPr>
              <a:t>REST API  —  POST /api/random-statements  ·  POST /api/conversions  ·  GET /api/conversions/jobs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11430000" cy="960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670048"/>
            <a:ext cx="11228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Segoe UI"/>
              </a:rPr>
              <a:t>Spring Batch  —  statementExportJob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081528"/>
            <a:ext cx="11228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ItemReader (H2)  -&gt;  ItemProcessor (validate + strategy)  -&gt;  BankingFileWriter (output/)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5349240" cy="173736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767328"/>
            <a:ext cx="5148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  <a:latin typeface="Segoe UI"/>
              </a:rPr>
              <a:t>Prowide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178808"/>
            <a:ext cx="514807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MT940 · MT942</a:t>
            </a:r>
          </a:p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camt.052 · camt.053</a:t>
            </a:r>
          </a:p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(type-safe Java objects)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703320"/>
            <a:ext cx="5806440" cy="173736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3767328"/>
            <a:ext cx="5605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A2"/>
                </a:solidFill>
                <a:latin typeface="Segoe UI"/>
              </a:rPr>
              <a:t>Velocity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4178808"/>
            <a:ext cx="560527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MT940 · MT942</a:t>
            </a:r>
          </a:p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camt.052 · camt.053</a:t>
            </a:r>
          </a:p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(.vm templates)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5641848"/>
            <a:ext cx="11228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46E7A"/>
                </a:solidFill>
                <a:latin typeface="Segoe UI"/>
              </a:rPr>
              <a:t>output/  —  statement-N.mt940  ·  statement-N.mt942  ·  statement-N.camt052.xml  ·  statement-N.camt053.xml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49240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051560"/>
            <a:ext cx="5806440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64A19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Java 21 (LTS)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Spring Boot 3.5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Spring Batch 5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Spring Data JPA + H2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Prowide Core (MT940/942)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Prowide ISO 20022 (camt)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Apache Velocity 2.4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MapStruct 1.6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4300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64A19"/>
                </a:solidFill>
                <a:latin typeface="Segoe UI"/>
              </a:rPr>
              <a:t>Frontend &amp;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Vanilla HTML / CSS / JS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Chart.js 4.4  (charts)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Mermaid 11  (diagrams)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Springdoc / OpenAPI 3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JUnit 5 + AssertJ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JaCoCo (&gt;=40% coverage)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Maven 3.9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492240"/>
            <a:ext cx="11430000" cy="41148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1064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F360C"/>
                </a:solidFill>
                <a:latin typeface="Segoe UI"/>
              </a:rPr>
              <a:t>No Node.js. No npm. No framework.  Start with:  mvn spring-boot:run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Strategy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BC"/>
                </a:solidFill>
                <a:latin typeface="Segoe UI"/>
              </a:rPr>
              <a:t>8 strategies · 1 interface · O(1) factory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30000" cy="868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4D4"/>
                </a:solidFill>
                <a:latin typeface="Segoe UI"/>
              </a:rPr>
              <a:t>public interface StatementExportStrategy {</a:t>
            </a:r>
          </a:p>
          <a:p>
            <a:pPr algn="l"/>
            <a:r>
              <a:rPr sz="1300" b="0" i="0">
                <a:solidFill>
                  <a:srgbClr val="D4D4D4"/>
                </a:solidFill>
                <a:latin typeface="Segoe UI"/>
              </a:rPr>
              <a:t>    ConversionTargetFormat targetFormat();    ConversionEngine engine();</a:t>
            </a:r>
          </a:p>
          <a:p>
            <a:pPr algn="l"/>
            <a:r>
              <a:rPr sz="1300" b="0" i="0">
                <a:solidFill>
                  <a:srgbClr val="D4D4D4"/>
                </a:solidFill>
                <a:latin typeface="Segoe UI"/>
              </a:rPr>
              <a:t>    GeneratedBankingFile   export(BankStatement statement);</a:t>
            </a:r>
          </a:p>
          <a:p>
            <a:pPr algn="l"/>
            <a:r>
              <a:rPr sz="1300" b="0" i="0">
                <a:solidFill>
                  <a:srgbClr val="D4D4D4"/>
                </a:solidFill>
                <a:latin typeface="Segoe UI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98932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2048256"/>
            <a:ext cx="5897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Strategy 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69748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204825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011680"/>
            <a:ext cx="269748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8864" y="204825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95728"/>
            <a:ext cx="59893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2459736"/>
            <a:ext cx="5897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InternalToMt940ProwideStrategy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95728"/>
            <a:ext cx="269748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459736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MT940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395728"/>
            <a:ext cx="269748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2459736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PROWIDE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98064"/>
            <a:ext cx="5989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862072"/>
            <a:ext cx="5897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InternalToMt942ProwideStrategy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98064"/>
            <a:ext cx="2697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862072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MT942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798064"/>
            <a:ext cx="2697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2862072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PROWIDE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00400"/>
            <a:ext cx="59893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3264408"/>
            <a:ext cx="5897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InternalToCamt052ProwideStrategy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200400"/>
            <a:ext cx="269748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3264408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camt.052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200400"/>
            <a:ext cx="269748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3264408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PROWIDE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02736"/>
            <a:ext cx="5989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3666744"/>
            <a:ext cx="5897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InternalToCamt053ProwideStrategy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02736"/>
            <a:ext cx="2697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3666744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camt.053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602736"/>
            <a:ext cx="2697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98864" y="3666744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PROWIDE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005072"/>
            <a:ext cx="59893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4069080"/>
            <a:ext cx="5897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InternalToMt940VelocityStrategy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005072"/>
            <a:ext cx="269748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069080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MT940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4005072"/>
            <a:ext cx="269748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98864" y="4069080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VELOCITY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407408"/>
            <a:ext cx="5989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4471416"/>
            <a:ext cx="5897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InternalToMt942VelocityStrategy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407408"/>
            <a:ext cx="2697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4471416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MT942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4407408"/>
            <a:ext cx="2697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98864" y="4471416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VELOCITY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809744"/>
            <a:ext cx="59893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4873752"/>
            <a:ext cx="5897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InternalToCamt052VelocityStrategy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809744"/>
            <a:ext cx="269748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55664" y="4873752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camt.052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4809744"/>
            <a:ext cx="269748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98864" y="4873752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VELOCITY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212080"/>
            <a:ext cx="5989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" y="5276088"/>
            <a:ext cx="5897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InternalToCamt053VelocityStrategy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5212080"/>
            <a:ext cx="2697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5276088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camt.053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5212080"/>
            <a:ext cx="2697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4" y="5276088"/>
            <a:ext cx="2606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VELOCITY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510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57575"/>
                </a:solidFill>
                <a:latin typeface="Segoe UI"/>
              </a:rPr>
              <a:t>Adding a new strategy: implement the interface + @Component — no factory changes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Spring Batch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BC"/>
                </a:solidFill>
                <a:latin typeface="Segoe UI"/>
              </a:rPr>
              <a:t>Every conversion is a parameterised Spring Batch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11430000" cy="74980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3385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Segoe UI"/>
              </a:rPr>
              <a:t>POST /api/conversions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207007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{ statementId, targetFormat, engine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65376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Segoe UI"/>
              </a:rPr>
              <a:t>BatchJobService.launch()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9339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Creates unique jobParameters with runId timestamp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11430000" cy="749808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0662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  <a:latin typeface="Segoe UI"/>
              </a:rPr>
              <a:t>BankStatementItemReader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779776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Join-fetch BankStatementEntity + transactions from H2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38144"/>
            <a:ext cx="11430000" cy="749808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930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  <a:latin typeface="Segoe UI"/>
              </a:rPr>
              <a:t>StatementExportProcessor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661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Map entity -&gt; domain  -&gt;  validate  -&gt;  resolve strategy  -&gt;  export()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24528"/>
            <a:ext cx="11430000" cy="749808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793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A2"/>
                </a:solidFill>
                <a:latin typeface="Segoe UI"/>
              </a:rPr>
              <a:t>BankingFileWriter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352544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Write to ./output/statement-N.{mt940|mt942|camt052.xml|camt053.xml}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10912"/>
            <a:ext cx="11430000" cy="74980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6577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Segoe UI"/>
              </a:rPr>
              <a:t>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13892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jobId · status · outputFile · fileContent (preview)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Conversion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BC"/>
                </a:solidFill>
                <a:latin typeface="Segoe UI"/>
              </a:rPr>
              <a:t>Both pass the same 3-stage validation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49240" cy="452628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43000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F360C"/>
                </a:solidFill>
                <a:latin typeface="Segoe UI"/>
              </a:rPr>
              <a:t>Prowide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09928"/>
            <a:ext cx="5074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Strongly-typed Java objects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MT940, Field60F, MxCamt05300108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SWIFT / ISO constraints at compile time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Field re-parse validation (MT)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XSD validation (camt XML)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Low risk, high type-safety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51560"/>
            <a:ext cx="5806440" cy="452628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143000"/>
            <a:ext cx="5532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1FA2"/>
                </a:solidFill>
                <a:latin typeface="Segoe UI"/>
              </a:rPr>
              <a:t>Apache Velocity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709928"/>
            <a:ext cx="5532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Declarative .vm templates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mt940.vm · mt942.vm · camt053.vm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Human-readable template editing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Easy to adjust output format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Same post-generation validation</a:t>
            </a:r>
          </a:p>
          <a:p>
            <a:pPr algn="l"/>
            <a:r>
              <a:rPr sz="1700" b="0" i="0">
                <a:solidFill>
                  <a:srgbClr val="212121"/>
                </a:solidFill>
                <a:latin typeface="Segoe UI"/>
              </a:rPr>
              <a:t>Low risk, high flexibility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669280"/>
            <a:ext cx="11430000" cy="65836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73328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5100"/>
                </a:solidFill>
                <a:latin typeface="Segoe UI"/>
              </a:rPr>
              <a:t>3-stage validation:  1. Internal model (IBAN, balances)  2. MT re-parse (Prowide field check)  3. camt XSD (ISO 20022 schema)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00584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0881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388620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72184" y="1088136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Endpoint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051560"/>
            <a:ext cx="640080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4103" y="1088136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35607"/>
            <a:ext cx="100584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4996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POST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1435607"/>
            <a:ext cx="388620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2184" y="1499616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/api/random-statements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1435607"/>
            <a:ext cx="640080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4103" y="1499616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Generate random BankStatement in H2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29384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199339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1929384"/>
            <a:ext cx="3886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72184" y="1993391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/api/conversions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1929384"/>
            <a:ext cx="64008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4103" y="1993391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Launch Spring Batch export job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23160"/>
            <a:ext cx="100584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24871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2423160"/>
            <a:ext cx="388620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72184" y="248716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/api/conversions/jobs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2423160"/>
            <a:ext cx="640080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4103" y="2487168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List all job executions (last 50)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9169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9809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2916936"/>
            <a:ext cx="3886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72184" y="2980944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/api/conversions/jobs/{id}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2916936"/>
            <a:ext cx="64008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4103" y="2980944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Poll batch job status by 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410712"/>
            <a:ext cx="100584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4747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GET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20" y="3410712"/>
            <a:ext cx="388620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2184" y="3474720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/actuator/health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49240" y="3410712"/>
            <a:ext cx="640080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4103" y="3474720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Health + H2 + version indicator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904487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39684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GET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17320" y="3904487"/>
            <a:ext cx="3886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72184" y="3968496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/actuator/info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3904487"/>
            <a:ext cx="64008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04103" y="3968496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Build metadata (name, version, author)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343400"/>
            <a:ext cx="1143000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440740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D4D4"/>
                </a:solidFill>
                <a:latin typeface="Segoe UI"/>
              </a:rPr>
              <a:t>curl -X POST http://localhost:8080/api/conversions \</a:t>
            </a:r>
          </a:p>
          <a:p>
            <a:pPr algn="l"/>
            <a:r>
              <a:rPr sz="1400" b="0" i="0">
                <a:solidFill>
                  <a:srgbClr val="D4D4D4"/>
                </a:solidFill>
                <a:latin typeface="Segoe UI"/>
              </a:rPr>
              <a:t>  -H "Content-Type: application/json" \</a:t>
            </a:r>
          </a:p>
          <a:p>
            <a:pPr algn="l"/>
            <a:r>
              <a:rPr sz="1400" b="0" i="0">
                <a:solidFill>
                  <a:srgbClr val="D4D4D4"/>
                </a:solidFill>
                <a:latin typeface="Segoe UI"/>
              </a:rPr>
              <a:t>  -d '{"statementId":1,"targetFormat":"MT940","engine":"PROWIDE"}'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Frontend — Vanilla HTML/JS SPA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BC"/>
                </a:solidFill>
                <a:latin typeface="Segoe UI"/>
              </a:rPr>
              <a:t>No React. No npm. No build step. No Node.js.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2606040" cy="5943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index.html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078992"/>
            <a:ext cx="882396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188719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Segoe UI"/>
              </a:rPr>
              <a:t>SPA shell — header, sidebar nav, &lt;main&gt; container, footer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2606040" cy="5943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css/style.css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737360"/>
            <a:ext cx="882396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847088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Segoe UI"/>
              </a:rPr>
              <a:t>All styling — CSS variables, light/dark theme, cards,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95728"/>
            <a:ext cx="2606040" cy="5943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js/app.js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395728"/>
            <a:ext cx="882396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505456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Segoe UI"/>
              </a:rPr>
              <a:t>Router, 6 view functions, API fetch calls, chart &amp; diagram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1143000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729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565C0"/>
                </a:solidFill>
                <a:latin typeface="Segoe UI"/>
              </a:rPr>
              <a:t>CDN at runtime:  Chart.js 4.4 (charts)  ·  Mermaid 11 (diagrams)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182880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3785615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3749039"/>
            <a:ext cx="1874519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95144" y="3785615"/>
            <a:ext cx="1783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Hash Route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749039"/>
            <a:ext cx="7955279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383" y="3785615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Description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33087"/>
            <a:ext cx="18288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419709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4133087"/>
            <a:ext cx="1874519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95144" y="4197096"/>
            <a:ext cx="1783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#dashboard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133087"/>
            <a:ext cx="7955279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15383" y="4197096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Health, info, job summary, quick-action cards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53712"/>
            <a:ext cx="18288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461772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Generate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553712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95144" y="4617720"/>
            <a:ext cx="1783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#generate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4553712"/>
            <a:ext cx="795527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15383" y="4617720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Seed H2 with LOW or HIGH load profile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974336"/>
            <a:ext cx="18288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503834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Conversion Runner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4974336"/>
            <a:ext cx="1874519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95144" y="5038344"/>
            <a:ext cx="1783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#convert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4974336"/>
            <a:ext cx="7955279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15383" y="5038344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Single run or all 8 format/engine combinations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394959"/>
            <a:ext cx="18288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54589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History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539495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95144" y="5458968"/>
            <a:ext cx="1783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#history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5394959"/>
            <a:ext cx="795527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15383" y="5458968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Auto-refreshing job table (every 15 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815583"/>
            <a:ext cx="18288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587959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Charts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40280" y="5815583"/>
            <a:ext cx="1874519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95144" y="5879592"/>
            <a:ext cx="1783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#charts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5815583"/>
            <a:ext cx="7955279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15383" y="5879592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Duration by format/engine, timeline, status (30 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236207"/>
            <a:ext cx="18288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" y="630021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Diagrams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40280" y="6236207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95144" y="6300216"/>
            <a:ext cx="1783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#diagrams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6236207"/>
            <a:ext cx="795527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15383" y="6300216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Live Mermaid architecture diagrams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BC"/>
                </a:solidFill>
                <a:latin typeface="Segoe UI"/>
              </a:rPr>
              <a:t>Three commands to a running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30000" cy="2788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15568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># 1. Clone and build</a:t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>git clone https://github.com/wallaceespindola/camt-mt-converters.git</a:t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>cd camt-mt-converters &amp;&amp; mvn clean install</a:t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/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># 2. Start the application</a:t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>mvn spring-boot:run</a:t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># OR:  ./run.sh  |  .\run.ps1  |  run.bat</a:t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/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># 3. Open the browser</a:t>
            </a:r>
          </a:p>
          <a:p>
            <a:pPr algn="l"/>
            <a:r>
              <a:rPr sz="1500" b="0" i="0">
                <a:solidFill>
                  <a:srgbClr val="D4D4D4"/>
                </a:solidFill>
                <a:latin typeface="Segoe UI"/>
              </a:rPr>
              <a:t>open http://localhost:8080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977639"/>
            <a:ext cx="512064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014215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3977639"/>
            <a:ext cx="630936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6983" y="4014215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61688"/>
            <a:ext cx="512064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44256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http://localhost:8080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4361688"/>
            <a:ext cx="630936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3" y="442569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Web UI  —  HTML/JS SPA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55464"/>
            <a:ext cx="5120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49194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http://localhost:8080/swagger-ui.html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4855464"/>
            <a:ext cx="6309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6983" y="491947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Swagger / OpenAPI docs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49240"/>
            <a:ext cx="512064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54132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http://localhost:8080/h2-console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5349240"/>
            <a:ext cx="6309360" cy="47548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3" y="5413248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H2 in-memory database console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43016"/>
            <a:ext cx="5120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59070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http://localhost:8080/actuator/health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5843016"/>
            <a:ext cx="6309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6983" y="5907024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Health endpoint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BC"/>
                </a:solidFill>
                <a:latin typeface="Segoe UI"/>
              </a:rPr>
              <a:t>45 tests · 0 failures · JaCoCo &gt;= 40% instruction coverage enforced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0332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088136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Test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051560"/>
            <a:ext cx="260604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9663" y="108813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051560"/>
            <a:ext cx="5029200" cy="3657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10881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35607"/>
            <a:ext cx="370332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1499616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StrategyFactoryTest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435607"/>
            <a:ext cx="260604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3" y="149961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Strategy factory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435607"/>
            <a:ext cx="5029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4" y="149961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All 8 strategies resolved correctly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856231"/>
            <a:ext cx="37033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1920239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ProwideStrategyOutputTest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856231"/>
            <a:ext cx="26060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9663" y="1920239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Prowide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856231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1920239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4 format validations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276856"/>
            <a:ext cx="370332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2340863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VelocityStrategyOutputTest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276856"/>
            <a:ext cx="260604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9663" y="2340863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Velocity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276856"/>
            <a:ext cx="5029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2340863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4 format validations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697479"/>
            <a:ext cx="37033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2761487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GoldenFileTest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2697479"/>
            <a:ext cx="26060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9663" y="2761487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Golden 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697479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2761487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Output snapshot testing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118103"/>
            <a:ext cx="370332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3182111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BatchJobIntegrationTest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118103"/>
            <a:ext cx="260604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9663" y="3182111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Batch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118103"/>
            <a:ext cx="5029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1424" y="3182111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Full job lifecycle, @DirtiesContext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538727"/>
            <a:ext cx="37033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3602735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BankStatementMapperTest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3538727"/>
            <a:ext cx="26060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9663" y="3602735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Domain mapper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3538727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21424" y="3602735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Entity -&gt; domain mapping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959352"/>
            <a:ext cx="370332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" y="4023360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InternalStatementValidatorTest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3959352"/>
            <a:ext cx="260604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9663" y="402336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Validation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66560" y="3959352"/>
            <a:ext cx="5029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21424" y="402336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IBAN, balances, transactions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379976"/>
            <a:ext cx="37033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" y="4443984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RandomStatementControllerTest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4379976"/>
            <a:ext cx="26060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9663" y="4443984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REST statements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6560" y="4379976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21424" y="444398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MockMvc, @MockitoBean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800600"/>
            <a:ext cx="370332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4864608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StatementConversionControllerTest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4800600"/>
            <a:ext cx="260604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9663" y="4864608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REST conversions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4800600"/>
            <a:ext cx="5029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21424" y="486460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MockMvc, @MockitoBean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221224"/>
            <a:ext cx="37033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0624" y="5285232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ActuatorTest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0" y="5221224"/>
            <a:ext cx="26060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69663" y="5285232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Actuator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5221224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21424" y="52852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Health + info endpoints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641848"/>
            <a:ext cx="370332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0624" y="5705856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SwaggerAvailabilityTest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0" y="5641848"/>
            <a:ext cx="260604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69663" y="570585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Swagger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66560" y="5641848"/>
            <a:ext cx="502920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21424" y="57058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OpenAPI spec accessible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199632"/>
            <a:ext cx="114300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624535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  <a:latin typeface="Segoe UI"/>
              </a:rPr>
              <a:t>mvn verify  —  runs all 45 tests + JaCoCo coverage check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Wallace Espindola  ·  github.com/wallaceespindola/camt-mt-converters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3017520" cy="71323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19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Strategy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078992"/>
            <a:ext cx="8412480" cy="71323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34439"/>
            <a:ext cx="8183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8 strategies, O(1) factory, zero branching, open for extension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3017520" cy="71323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56816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Spring Batch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847088"/>
            <a:ext cx="8412480" cy="71323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02536"/>
            <a:ext cx="8183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Parameterised jobs, chunk processing, idempotent re-runs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15184"/>
            <a:ext cx="3017520" cy="71323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Dual-Engine Conversion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615184"/>
            <a:ext cx="8412480" cy="71323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770632"/>
            <a:ext cx="8183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Type-safe Prowide + flexible Velocity — same validation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83279"/>
            <a:ext cx="3017520" cy="71323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9300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Single Profile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383279"/>
            <a:ext cx="8412480" cy="71323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538727"/>
            <a:ext cx="8183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One application.yml, mvn spring-boot:run is all you need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51376"/>
            <a:ext cx="3017520" cy="71323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6110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Zero Frontend Toolchain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4151376"/>
            <a:ext cx="8412480" cy="71323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306824"/>
            <a:ext cx="8183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Vanilla HTML/JS served directly by Spring Boot — no npm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19472"/>
            <a:ext cx="3017520" cy="71323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29200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Cross-Platform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4919472"/>
            <a:ext cx="8412480" cy="71323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5074920"/>
            <a:ext cx="8183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Pure ASCII .sh / .ps1 / .bat — macOS, Linux, Windows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33872"/>
            <a:ext cx="11430000" cy="530352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4A19"/>
                </a:solidFill>
                <a:latin typeface="Segoe UI"/>
              </a:rPr>
              <a:t>github.com/wallaceespindola/camt-mt-converters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1737360"/>
            <a:ext cx="9006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4A19"/>
                </a:solidFill>
                <a:latin typeface="Segoe U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2788920"/>
            <a:ext cx="3867912" cy="457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2926080"/>
            <a:ext cx="9006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12121"/>
                </a:solidFill>
                <a:latin typeface="Segoe UI"/>
              </a:rPr>
              <a:t>Banking Statement Converter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520440"/>
            <a:ext cx="9006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12121"/>
                </a:solidFill>
                <a:latin typeface="Segoe UI"/>
              </a:rPr>
              <a:t>Wallace Espindola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977639"/>
            <a:ext cx="9006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  <a:latin typeface="Segoe UI"/>
              </a:rPr>
              <a:t>wallace.espindola@gmail.com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4343400"/>
            <a:ext cx="9006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57575"/>
                </a:solidFill>
                <a:latin typeface="Segoe UI"/>
              </a:rPr>
              <a:t>linkedin.com/in/wallaceespindola  ·  github.com/wallaceespindola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1722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github.com/wallaceespindola/camt-mt-converters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